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4384000" cy="13716000"/>
  <p:notesSz cx="6858000" cy="9144000"/>
  <p:embeddedFontLst>
    <p:embeddedFont>
      <p:font typeface="210 OmniGothic 040" panose="020B0600000101010101" charset="-127"/>
      <p:regular r:id="rId3"/>
    </p:embeddedFont>
    <p:embeddedFont>
      <p:font typeface="Pretendard Bold" panose="020B0600000101010101" charset="-127"/>
      <p:bold r:id="rId4"/>
    </p:embeddedFont>
    <p:embeddedFont>
      <p:font typeface="Pretendard Medium" panose="020B0600000101010101" charset="-127"/>
      <p:bold r:id="rId5"/>
    </p:embeddedFont>
    <p:embeddedFont>
      <p:font typeface="Pretendard SemiBold" panose="020B0600000101010101" charset="-127"/>
      <p:bold r:id="rId6"/>
    </p:embeddedFont>
    <p:embeddedFont>
      <p:font typeface="Lily Script One" panose="020B0600000101010101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71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3251200"/>
            <a:ext cx="22301200" cy="9791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35" y="901700"/>
            <a:ext cx="22301200" cy="11925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100" y="482600"/>
            <a:ext cx="3733800" cy="977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0" y="3454400"/>
            <a:ext cx="19431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3700" y="2286000"/>
            <a:ext cx="774700" cy="800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4851400"/>
            <a:ext cx="5930900" cy="76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5600" y="5626100"/>
            <a:ext cx="5930900" cy="589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0200" y="4851400"/>
            <a:ext cx="5930900" cy="76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4100" y="4762500"/>
            <a:ext cx="698500" cy="698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0200" y="5626100"/>
            <a:ext cx="5930900" cy="5892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44800" y="4851400"/>
            <a:ext cx="5930900" cy="762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38700" y="4762500"/>
            <a:ext cx="698500" cy="698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57502" y="5604013"/>
            <a:ext cx="5930900" cy="5892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2700" y="4800876"/>
            <a:ext cx="698500" cy="69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2400" y="6223000"/>
            <a:ext cx="1257300" cy="128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68100" y="6248400"/>
            <a:ext cx="1435100" cy="130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868900" y="6121400"/>
            <a:ext cx="1295400" cy="13843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715500" y="2692400"/>
            <a:ext cx="7137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2400" b="0" i="0" u="none" strike="noStrike" cap="all" spc="-200" dirty="0">
              <a:solidFill>
                <a:srgbClr val="797D8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873500" y="2108200"/>
            <a:ext cx="6692900" cy="1155700"/>
          </a:xfrm>
          <a:prstGeom prst="rect">
            <a:avLst/>
          </a:prstGeom>
        </p:spPr>
        <p:txBody>
          <a:bodyPr lIns="0" tIns="174243" rIns="0" bIns="0" rtlCol="0" anchor="t"/>
          <a:lstStyle/>
          <a:p>
            <a:pPr lvl="0" algn="l">
              <a:lnSpc>
                <a:spcPct val="81339"/>
              </a:lnSpc>
            </a:pPr>
            <a:r>
              <a:rPr lang="ko-KR" altLang="en-US" sz="6533" b="0" i="0" u="none" strike="noStrike" cap="all" spc="-400">
                <a:solidFill>
                  <a:srgbClr val="596290"/>
                </a:solidFill>
                <a:latin typeface="Pretendard Bold"/>
                <a:ea typeface="Pretendard Bold"/>
                <a:cs typeface="Pretendard Bold"/>
              </a:rPr>
              <a:t>서비스 활용 확장 방향</a:t>
            </a:r>
            <a:endParaRPr lang="en-US" sz="6533" b="0" i="0" u="none" strike="noStrike" cap="all" spc="-400" dirty="0">
              <a:solidFill>
                <a:srgbClr val="59629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 rot="10800000">
            <a:off x="2921000" y="1765300"/>
            <a:ext cx="863600" cy="1244600"/>
          </a:xfrm>
          <a:prstGeom prst="rect">
            <a:avLst/>
          </a:prstGeom>
        </p:spPr>
        <p:txBody>
          <a:bodyPr lIns="0" tIns="399387" rIns="0" bIns="0" rtlCol="0" anchor="t"/>
          <a:lstStyle/>
          <a:p>
            <a:pPr lvl="0" algn="ctr">
              <a:lnSpc>
                <a:spcPct val="41500"/>
              </a:lnSpc>
            </a:pPr>
            <a:r>
              <a:rPr lang="en-US" sz="6988" b="0" i="0" u="none" strike="noStrike" cap="all" spc="-500">
                <a:solidFill>
                  <a:srgbClr val="FFFFFF"/>
                </a:solidFill>
                <a:latin typeface="Lily Script One"/>
                <a:ea typeface="Lily Script One"/>
                <a:cs typeface="Lily Script One"/>
              </a:rPr>
              <a:t>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14100" y="4914900"/>
            <a:ext cx="711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1178"/>
              </a:lnSpc>
            </a:pPr>
            <a:r>
              <a:rPr lang="en-US" sz="2000" b="0" i="0" u="none" strike="noStrike" cap="all" spc="-200">
                <a:solidFill>
                  <a:srgbClr val="596290"/>
                </a:solidFill>
                <a:latin typeface="210 OmniGothic 040"/>
                <a:ea typeface="210 OmniGothic 040"/>
                <a:cs typeface="210 OmniGothic 040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538700" y="4914900"/>
            <a:ext cx="711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1178"/>
              </a:lnSpc>
            </a:pPr>
            <a:r>
              <a:rPr lang="en-US" sz="2000" b="0" i="0" u="none" strike="noStrike" cap="all" spc="-200">
                <a:solidFill>
                  <a:srgbClr val="596290"/>
                </a:solidFill>
                <a:latin typeface="210 OmniGothic 040"/>
                <a:ea typeface="210 OmniGothic 040"/>
                <a:cs typeface="210 OmniGothic 040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92700" y="4914900"/>
            <a:ext cx="711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1178"/>
              </a:lnSpc>
            </a:pPr>
            <a:r>
              <a:rPr lang="en-US" sz="2000" b="0" i="0" u="none" strike="noStrike" cap="all" spc="-200" dirty="0">
                <a:solidFill>
                  <a:srgbClr val="596290"/>
                </a:solidFill>
                <a:latin typeface="210 OmniGothic 040"/>
                <a:ea typeface="210 OmniGothic 040"/>
                <a:cs typeface="210 OmniGothic 040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76600" y="9042400"/>
            <a:ext cx="5219700" cy="176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1178"/>
              </a:lnSpc>
            </a:pP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   ▪  상비약</a:t>
            </a:r>
            <a:r>
              <a:rPr lang="en-US" altLang="ko-KR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영양제 혼용 시 위험 즉시 확인</a:t>
            </a:r>
            <a:endParaRPr lang="en-US" altLang="ko-KR" sz="2400" b="0" i="0" u="none" strike="noStrike" cap="all" spc="-200" dirty="0">
              <a:solidFill>
                <a:srgbClr val="6A6B72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21178"/>
              </a:lnSpc>
            </a:pPr>
            <a:r>
              <a:rPr lang="ko-KR" altLang="en-US" sz="2400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   ▪  일상 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복약 환경에서 안전성 확보</a:t>
            </a:r>
            <a:endParaRPr lang="en-US" altLang="ko-KR" sz="2400" b="0" i="0" u="none" strike="noStrike" cap="all" spc="-200" dirty="0">
              <a:solidFill>
                <a:srgbClr val="6A6B72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21178"/>
              </a:lnSpc>
            </a:pPr>
            <a:r>
              <a:rPr lang="ko-KR" altLang="en-US" sz="2400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   ▪  전문가 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없이도 기본적인 복약 판단 가능</a:t>
            </a:r>
            <a:endParaRPr lang="en-US" sz="2400" b="0" i="0" u="none" strike="noStrike" cap="all" spc="-200" dirty="0">
              <a:solidFill>
                <a:srgbClr val="6A6B7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263900" y="7861300"/>
            <a:ext cx="5257800" cy="596900"/>
          </a:xfrm>
          <a:prstGeom prst="rect">
            <a:avLst/>
          </a:prstGeom>
        </p:spPr>
        <p:txBody>
          <a:bodyPr lIns="0" tIns="2328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ko-KR" altLang="en-US" sz="3333" b="0" i="0" u="none" strike="noStrike" cap="all" spc="-200" dirty="0">
                <a:solidFill>
                  <a:srgbClr val="6A6B72"/>
                </a:solidFill>
                <a:latin typeface="Pretendard Bold"/>
                <a:ea typeface="Pretendard Bold"/>
                <a:cs typeface="Pretendard Bold"/>
              </a:rPr>
              <a:t>개인 복약 안전 관리</a:t>
            </a:r>
            <a:endParaRPr lang="en-US" sz="3333" b="0" i="0" u="none" strike="noStrike" cap="all" spc="-200" dirty="0">
              <a:solidFill>
                <a:srgbClr val="6A6B7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588500" y="9042400"/>
            <a:ext cx="5219700" cy="176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1178"/>
              </a:lnSpc>
            </a:pPr>
            <a:r>
              <a:rPr lang="ko-KR" altLang="en-US" sz="2400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        ▪   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처방 조제 과정에서 </a:t>
            </a:r>
            <a:r>
              <a:rPr lang="en-US" altLang="ko-KR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AI 2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차 검증 수행 </a:t>
            </a:r>
          </a:p>
          <a:p>
            <a:pPr lvl="0">
              <a:lnSpc>
                <a:spcPct val="121178"/>
              </a:lnSpc>
            </a:pPr>
            <a:r>
              <a:rPr lang="ko-KR" altLang="en-US" sz="2400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        ▪   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신약 및 복잡한 조합 부작용 위험 분석 </a:t>
            </a:r>
          </a:p>
          <a:p>
            <a:pPr lvl="0">
              <a:lnSpc>
                <a:spcPct val="121178"/>
              </a:lnSpc>
            </a:pPr>
            <a:r>
              <a:rPr lang="ko-KR" altLang="en-US" sz="2400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        ▪   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의료진 의사결정 지원 </a:t>
            </a:r>
          </a:p>
          <a:p>
            <a:pPr lvl="0">
              <a:lnSpc>
                <a:spcPct val="121178"/>
              </a:lnSpc>
            </a:pPr>
            <a:endParaRPr lang="en-US" sz="2400" b="0" i="0" u="none" strike="noStrike" cap="all" spc="-200" dirty="0">
              <a:solidFill>
                <a:srgbClr val="6A6B7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588500" y="7861300"/>
            <a:ext cx="5257800" cy="596900"/>
          </a:xfrm>
          <a:prstGeom prst="rect">
            <a:avLst/>
          </a:prstGeom>
        </p:spPr>
        <p:txBody>
          <a:bodyPr lIns="0" tIns="2328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3333" b="0" i="0" u="none" strike="noStrike" cap="all" spc="-200" dirty="0">
                <a:solidFill>
                  <a:srgbClr val="6A6B72"/>
                </a:solidFill>
                <a:latin typeface="Pretendard Bold"/>
                <a:ea typeface="Pretendard Bold"/>
                <a:cs typeface="Pretendard Bold"/>
              </a:rPr>
              <a:t>의료 전문가 보조 시스템</a:t>
            </a:r>
            <a:endParaRPr lang="en-US" sz="3333" b="0" i="0" u="none" strike="noStrike" cap="all" spc="-200" dirty="0">
              <a:solidFill>
                <a:srgbClr val="6A6B7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887700" y="9042400"/>
            <a:ext cx="5245100" cy="176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1178"/>
              </a:lnSpc>
            </a:pPr>
            <a:endParaRPr lang="en-US" sz="2400" b="0" i="0" u="none" strike="noStrike" cap="all" spc="-200" dirty="0">
              <a:solidFill>
                <a:srgbClr val="6A6B72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5900400" y="7861300"/>
            <a:ext cx="5257800" cy="596900"/>
          </a:xfrm>
          <a:prstGeom prst="rect">
            <a:avLst/>
          </a:prstGeom>
        </p:spPr>
        <p:txBody>
          <a:bodyPr lIns="0" tIns="2328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ko-KR" altLang="en-US" sz="3333" b="0" i="0" u="none" strike="noStrike" cap="all" spc="-200" dirty="0">
                <a:solidFill>
                  <a:srgbClr val="6A6B72"/>
                </a:solidFill>
                <a:latin typeface="Pretendard Bold"/>
                <a:ea typeface="Pretendard Bold"/>
                <a:cs typeface="Pretendard Bold"/>
              </a:rPr>
              <a:t>신약 개발 및 임상 지원</a:t>
            </a:r>
            <a:endParaRPr lang="en-US" sz="3333" b="0" i="0" u="none" strike="noStrike" cap="all" spc="-200" dirty="0">
              <a:solidFill>
                <a:srgbClr val="6A6B72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2" name="TextBox 30">
            <a:extLst>
              <a:ext uri="{FF2B5EF4-FFF2-40B4-BE49-F238E27FC236}">
                <a16:creationId xmlns:a16="http://schemas.microsoft.com/office/drawing/2014/main" id="{A6BC77A4-EED6-3AD1-4B34-EE6737D8F3C3}"/>
              </a:ext>
            </a:extLst>
          </p:cNvPr>
          <p:cNvSpPr txBox="1"/>
          <p:nvPr/>
        </p:nvSpPr>
        <p:spPr>
          <a:xfrm>
            <a:off x="15830550" y="9042400"/>
            <a:ext cx="5219700" cy="176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1178"/>
              </a:lnSpc>
            </a:pPr>
            <a:r>
              <a:rPr lang="ko-KR" altLang="en-US" sz="2400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▪     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신규 화합물과 기존 약물 간 상호작용 예측 </a:t>
            </a:r>
          </a:p>
          <a:p>
            <a:pPr lvl="0">
              <a:lnSpc>
                <a:spcPct val="121178"/>
              </a:lnSpc>
            </a:pPr>
            <a:r>
              <a:rPr lang="ko-KR" altLang="en-US" sz="2400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▪     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초기 설계 단계에서 리스크 사전 분석 </a:t>
            </a:r>
          </a:p>
          <a:p>
            <a:pPr lvl="0">
              <a:lnSpc>
                <a:spcPct val="121178"/>
              </a:lnSpc>
            </a:pPr>
            <a:r>
              <a:rPr lang="ko-KR" altLang="en-US" sz="2400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     ▪     </a:t>
            </a:r>
            <a:r>
              <a:rPr lang="ko-KR" altLang="en-US" sz="2400" b="0" i="0" u="none" strike="noStrike" cap="all" spc="-200" dirty="0">
                <a:solidFill>
                  <a:srgbClr val="6A6B72"/>
                </a:solidFill>
                <a:latin typeface="Pretendard Medium"/>
                <a:ea typeface="Pretendard Medium"/>
                <a:cs typeface="Pretendard Medium"/>
              </a:rPr>
              <a:t>임상 실패 가능성 감소 및 개발 효율 향상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97</Words>
  <Application>Microsoft Office PowerPoint</Application>
  <PresentationFormat>사용자 지정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Pretendard SemiBold</vt:lpstr>
      <vt:lpstr>Lily Script One</vt:lpstr>
      <vt:lpstr>Calibri</vt:lpstr>
      <vt:lpstr>Pretendard Bold</vt:lpstr>
      <vt:lpstr>Pretendard Medium</vt:lpstr>
      <vt:lpstr>210 OmniGothic 040</vt:lpstr>
      <vt:lpstr>Arial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최건영</cp:lastModifiedBy>
  <cp:revision>3</cp:revision>
  <dcterms:created xsi:type="dcterms:W3CDTF">2006-08-16T00:00:00Z</dcterms:created>
  <dcterms:modified xsi:type="dcterms:W3CDTF">2026-04-18T09:07:57Z</dcterms:modified>
</cp:coreProperties>
</file>